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Divisão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4AF37"/>
              </a:solidFill>
              <a:ln w="25400" cap="flat">
                <a:solidFill>
                  <a:srgbClr val="141414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FFFFFF"/>
              </a:solidFill>
              <a:ln w="25400" cap="flat">
                <a:solidFill>
                  <a:srgbClr val="141414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A9A49B"/>
              </a:solidFill>
              <a:ln w="25400" cap="flat">
                <a:solidFill>
                  <a:srgbClr val="141414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41414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41414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41414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Scheron Pipoca</c:v>
                </c:pt>
                <c:pt idx="1">
                  <c:v>Pantera Brasil</c:v>
                </c:pt>
                <c:pt idx="2">
                  <c:v>HUB37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33.3</c:v>
                </c:pt>
                <c:pt idx="1">
                  <c:v>33.3</c:v>
                </c:pt>
                <c:pt idx="2">
                  <c:v>33.4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173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PARCERIA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874520"/>
            <a:ext cx="1072591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SCHERON PIPOCA  ×  PANTERA BRASIL  ×  HUB37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1097280" y="3246120"/>
            <a:ext cx="99943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Aliança estratégica de marca, produção e tecnologia de venda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219956" y="4206240"/>
            <a:ext cx="822960" cy="822960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05122" y="4391406"/>
            <a:ext cx="452628" cy="45262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682996" y="4206240"/>
            <a:ext cx="822960" cy="822960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162" y="4391406"/>
            <a:ext cx="452628" cy="45262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146036" y="4206240"/>
            <a:ext cx="822960" cy="822960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202" y="4391406"/>
            <a:ext cx="452628" cy="45262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854196" y="51389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5317236" y="51389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6780276" y="51389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0" y="621792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Agosto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projeto funciona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empresas, três especialidades, um único produto.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99516" y="1600200"/>
            <a:ext cx="3383280" cy="3200400"/>
          </a:xfrm>
          <a:prstGeom prst="roundRect">
            <a:avLst>
              <a:gd name="adj" fmla="val 2286"/>
            </a:avLst>
          </a:prstGeom>
          <a:solidFill>
            <a:srgbClr val="1E1E1F"/>
          </a:solidFill>
          <a:ln w="9525">
            <a:solidFill>
              <a:srgbClr val="35322A"/>
            </a:solidFill>
            <a:prstDash val="solid"/>
          </a:ln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33956" y="1965960"/>
            <a:ext cx="914400" cy="914400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9696" y="21717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2396" y="3063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82396" y="3383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Scheron Pipoca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19556" y="37490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Identidade, marketing e social mídia do produto final.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02836" y="1600200"/>
            <a:ext cx="3383280" cy="3200400"/>
          </a:xfrm>
          <a:prstGeom prst="roundRect">
            <a:avLst>
              <a:gd name="adj" fmla="val 2286"/>
            </a:avLst>
          </a:prstGeom>
          <a:solidFill>
            <a:srgbClr val="1E1E1F"/>
          </a:solidFill>
          <a:ln w="9525">
            <a:solidFill>
              <a:srgbClr val="35322A"/>
            </a:solidFill>
            <a:prstDash val="solid"/>
          </a:ln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37276" y="1965960"/>
            <a:ext cx="914400" cy="914400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016" y="217170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85716" y="3063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FORNECEDORA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85716" y="3383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Pantera Brasil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722876" y="37490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do catálogo que dá origem a todos os produtos.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06156" y="1600200"/>
            <a:ext cx="3383280" cy="3200400"/>
          </a:xfrm>
          <a:prstGeom prst="roundRect">
            <a:avLst>
              <a:gd name="adj" fmla="val 2286"/>
            </a:avLst>
          </a:prstGeom>
          <a:solidFill>
            <a:srgbClr val="1E1E1F"/>
          </a:solidFill>
          <a:ln w="9525">
            <a:solidFill>
              <a:srgbClr val="35322A"/>
            </a:solidFill>
            <a:prstDash val="solid"/>
          </a:ln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340596" y="1965960"/>
            <a:ext cx="914400" cy="914400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36" y="217170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89036" y="30632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SOLUÇÃO DE VENDA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289036" y="3383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HUB37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426196" y="374904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Plataforma, integrações e operacional de vendas.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99516" y="5120640"/>
            <a:ext cx="10789920" cy="777240"/>
          </a:xfrm>
          <a:prstGeom prst="roundRect">
            <a:avLst>
              <a:gd name="adj" fmla="val 9412"/>
            </a:avLst>
          </a:prstGeom>
          <a:solidFill>
            <a:srgbClr val="242425"/>
          </a:solidFill>
          <a:ln w="9525">
            <a:solidFill>
              <a:srgbClr val="35322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065276" y="512064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Desenvolvemos produtos da Pantera com a marca Scheron Pipoca — toda a operação nasce a partir do catálogo da Pantera para validação do negócio.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SCHERON PIPOCA  ×  PANTERA BRASIL  ×  HUB37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Equipe do projeto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é descartável — cada pessoa sustenta uma parte essencial da operação.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99516" y="1508760"/>
            <a:ext cx="3383280" cy="3749040"/>
          </a:xfrm>
          <a:prstGeom prst="roundRect">
            <a:avLst>
              <a:gd name="adj" fmla="val 2162"/>
            </a:avLst>
          </a:prstGeom>
          <a:solidFill>
            <a:srgbClr val="1E1E1F"/>
          </a:solidFill>
          <a:ln w="9525">
            <a:solidFill>
              <a:srgbClr val="35322A"/>
            </a:solidFill>
            <a:prstDash val="solid"/>
          </a:ln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3836" y="1783080"/>
            <a:ext cx="594360" cy="594360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567" y="191681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05356" y="17830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SCHERON PIPOCA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73836" y="2651760"/>
            <a:ext cx="2834640" cy="1005840"/>
          </a:xfrm>
          <a:prstGeom prst="roundRect">
            <a:avLst>
              <a:gd name="adj" fmla="val 5455"/>
            </a:avLst>
          </a:prstGeom>
          <a:solidFill>
            <a:srgbClr val="242425"/>
          </a:solidFill>
          <a:ln w="6350">
            <a:solidFill>
              <a:srgbClr val="3532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56716" y="276148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156716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/ Fundadora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73836" y="3840480"/>
            <a:ext cx="2834640" cy="1005840"/>
          </a:xfrm>
          <a:prstGeom prst="roundRect">
            <a:avLst>
              <a:gd name="adj" fmla="val 5455"/>
            </a:avLst>
          </a:prstGeom>
          <a:solidFill>
            <a:srgbClr val="242425"/>
          </a:solidFill>
          <a:ln w="6350">
            <a:solidFill>
              <a:srgbClr val="35322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6716" y="39502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Marcelo — NINE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56716" y="4297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Estúdio de criação de calçados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402836" y="1508760"/>
            <a:ext cx="3383280" cy="3749040"/>
          </a:xfrm>
          <a:prstGeom prst="roundRect">
            <a:avLst>
              <a:gd name="adj" fmla="val 2162"/>
            </a:avLst>
          </a:prstGeom>
          <a:solidFill>
            <a:srgbClr val="1E1E1F"/>
          </a:solidFill>
          <a:ln w="9525">
            <a:solidFill>
              <a:srgbClr val="35322A"/>
            </a:solidFill>
            <a:prstDash val="solid"/>
          </a:ln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677156" y="1783080"/>
            <a:ext cx="594360" cy="594360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0887" y="1916811"/>
            <a:ext cx="326898" cy="32689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408676" y="17830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PANTERA BRASIL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4677156" y="2651760"/>
            <a:ext cx="2834640" cy="1005840"/>
          </a:xfrm>
          <a:prstGeom prst="roundRect">
            <a:avLst>
              <a:gd name="adj" fmla="val 5455"/>
            </a:avLst>
          </a:prstGeom>
          <a:solidFill>
            <a:srgbClr val="242425"/>
          </a:solidFill>
          <a:ln w="6350">
            <a:solidFill>
              <a:srgbClr val="35322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860036" y="276148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Dionys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4860036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677156" y="3840480"/>
            <a:ext cx="2834640" cy="1005840"/>
          </a:xfrm>
          <a:prstGeom prst="roundRect">
            <a:avLst>
              <a:gd name="adj" fmla="val 5455"/>
            </a:avLst>
          </a:prstGeom>
          <a:solidFill>
            <a:srgbClr val="242425"/>
          </a:solidFill>
          <a:ln w="6350">
            <a:solidFill>
              <a:srgbClr val="35322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860036" y="39502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Poliana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4860036" y="4297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8106156" y="1508760"/>
            <a:ext cx="3383280" cy="3749040"/>
          </a:xfrm>
          <a:prstGeom prst="roundRect">
            <a:avLst>
              <a:gd name="adj" fmla="val 2162"/>
            </a:avLst>
          </a:prstGeom>
          <a:solidFill>
            <a:srgbClr val="1E1E1F"/>
          </a:solidFill>
          <a:ln w="9525">
            <a:solidFill>
              <a:srgbClr val="35322A"/>
            </a:solidFill>
            <a:prstDash val="solid"/>
          </a:ln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8380476" y="1783080"/>
            <a:ext cx="594360" cy="594360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4207" y="1916811"/>
            <a:ext cx="326898" cy="32689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9111996" y="17830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HUB37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8380476" y="2651760"/>
            <a:ext cx="2834640" cy="1005840"/>
          </a:xfrm>
          <a:prstGeom prst="roundRect">
            <a:avLst>
              <a:gd name="adj" fmla="val 5455"/>
            </a:avLst>
          </a:prstGeom>
          <a:solidFill>
            <a:srgbClr val="242425"/>
          </a:solidFill>
          <a:ln w="6350">
            <a:solidFill>
              <a:srgbClr val="35322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563356" y="276148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Roger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8563356" y="31089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Fulfillment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8380476" y="3840480"/>
            <a:ext cx="2834640" cy="1005840"/>
          </a:xfrm>
          <a:prstGeom prst="roundRect">
            <a:avLst>
              <a:gd name="adj" fmla="val 5455"/>
            </a:avLst>
          </a:prstGeom>
          <a:solidFill>
            <a:srgbClr val="242425"/>
          </a:solidFill>
          <a:ln w="6350">
            <a:solidFill>
              <a:srgbClr val="35322A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563356" y="395020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Joilson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8563356" y="4297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 de soluções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SCHERON PIPOCA  ×  PANTERA BRASIL  ×  HUB37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negócio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produto Pantera ao cliente final, em três etapas.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99516" y="16916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1E1E1F"/>
          </a:solidFill>
          <a:ln w="9525">
            <a:solidFill>
              <a:srgbClr val="35322A"/>
            </a:solidFill>
            <a:prstDash val="solid"/>
          </a:ln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402836" y="16916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1E1E1F"/>
          </a:solidFill>
          <a:ln w="9525">
            <a:solidFill>
              <a:srgbClr val="35322A"/>
            </a:solidFill>
            <a:prstDash val="solid"/>
          </a:ln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106156" y="1691640"/>
            <a:ext cx="3383280" cy="3291840"/>
          </a:xfrm>
          <a:prstGeom prst="roundRect">
            <a:avLst>
              <a:gd name="adj" fmla="val 2222"/>
            </a:avLst>
          </a:prstGeom>
          <a:solidFill>
            <a:srgbClr val="1E1E1F"/>
          </a:solidFill>
          <a:ln w="9525">
            <a:solidFill>
              <a:srgbClr val="35322A"/>
            </a:solidFill>
            <a:prstDash val="solid"/>
          </a:ln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071116" y="2011680"/>
            <a:ext cx="640080" cy="640080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71116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82396" y="2834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82396" y="31546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Pantera Brasil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19556" y="352044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 o catálogo de produtos que dá origem à operação.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774436" y="2011680"/>
            <a:ext cx="640080" cy="640080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74436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585716" y="2834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&amp; Produto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85716" y="31546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Scheron Pipoca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22876" y="352044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sua marca aos produtos Pantera, cria marketing e social mídia.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477756" y="2011680"/>
            <a:ext cx="640080" cy="640080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477756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89036" y="28346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89036" y="31546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HUB37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26196" y="352044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Disponibiliza plataforma, integrações e operacional para venda.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99516" y="5257800"/>
            <a:ext cx="10789920" cy="685800"/>
          </a:xfrm>
          <a:prstGeom prst="roundRect">
            <a:avLst>
              <a:gd name="adj" fmla="val 10667"/>
            </a:avLst>
          </a:prstGeom>
          <a:solidFill>
            <a:srgbClr val="242425"/>
          </a:solidFill>
          <a:ln w="9525">
            <a:solidFill>
              <a:srgbClr val="3532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65276" y="525780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 operação é construída com base nos produtos da Pantera para validação do negócio.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SCHERON PIPOCA  ×  PANTERA BRASIL  ×  HUB37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Identidade da marca no produto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produto aparece nas embalagens e nos canais de venda.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1E1E1F"/>
          </a:solidFill>
          <a:ln w="9525">
            <a:solidFill>
              <a:srgbClr val="35322A"/>
            </a:solidFill>
            <a:prstDash val="solid"/>
          </a:ln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0" y="2194560"/>
            <a:ext cx="914400" cy="914400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1820" y="24003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3337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EMBALAGENS DO PRODUTO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280160" y="3749040"/>
            <a:ext cx="4206240" cy="1554480"/>
          </a:xfrm>
          <a:prstGeom prst="roundRect">
            <a:avLst>
              <a:gd name="adj" fmla="val 3529"/>
            </a:avLst>
          </a:prstGeom>
          <a:solidFill>
            <a:srgbClr val="24242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71600" y="39319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SCHERON PIPOCA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371600" y="452628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Pantera Brasil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309360" y="1737360"/>
            <a:ext cx="5056632" cy="4023360"/>
          </a:xfrm>
          <a:prstGeom prst="roundRect">
            <a:avLst>
              <a:gd name="adj" fmla="val 1818"/>
            </a:avLst>
          </a:prstGeom>
          <a:solidFill>
            <a:srgbClr val="1E1E1F"/>
          </a:solidFill>
          <a:ln w="9525">
            <a:solidFill>
              <a:srgbClr val="35322A"/>
            </a:solidFill>
            <a:prstDash val="solid"/>
          </a:ln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380476" y="2194560"/>
            <a:ext cx="914400" cy="914400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6216" y="240030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583680" y="3337560"/>
            <a:ext cx="4507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CANAIS DE VENDA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766560" y="3749040"/>
            <a:ext cx="4142232" cy="1554480"/>
          </a:xfrm>
          <a:prstGeom prst="roundRect">
            <a:avLst>
              <a:gd name="adj" fmla="val 3529"/>
            </a:avLst>
          </a:prstGeom>
          <a:solidFill>
            <a:srgbClr val="24242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858000" y="3950208"/>
            <a:ext cx="39593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Assistido e distribuído por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58000" y="4343400"/>
            <a:ext cx="39593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HUB37</a:t>
            </a:r>
            <a:endParaRPr lang="en-US" sz="2600" dirty="0"/>
          </a:p>
        </p:txBody>
      </p:sp>
      <p:sp>
        <p:nvSpPr>
          <p:cNvPr id="18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SCHERON PIPOCA  ×  PANTERA BRASIL  ×  HUB37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Responsabilidades por área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empresa lidera a frente onde tem mais espertise.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99516" y="160020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1E1E1F"/>
          </a:solidFill>
          <a:ln w="9525">
            <a:solidFill>
              <a:srgbClr val="35322A"/>
            </a:solidFill>
            <a:prstDash val="solid"/>
          </a:ln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79676" y="1920240"/>
            <a:ext cx="822960" cy="822960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4842" y="2105406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2396" y="2880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SCHERON PIPOCA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82396" y="317296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&amp; Social Mídia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19556" y="37490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 comunicação, conteúdo e presença digital da marca.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02836" y="160020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1E1E1F"/>
          </a:solidFill>
          <a:ln w="9525">
            <a:solidFill>
              <a:srgbClr val="35322A"/>
            </a:solidFill>
            <a:prstDash val="solid"/>
          </a:ln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162" y="2105406"/>
            <a:ext cx="452628" cy="4526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85716" y="2880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PANTERA BRASIL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4585716" y="317296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Produção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722876" y="37490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Fabricação do catálogo de produtos que abastece a operação.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06156" y="1600200"/>
            <a:ext cx="3383280" cy="3383280"/>
          </a:xfrm>
          <a:prstGeom prst="roundRect">
            <a:avLst>
              <a:gd name="adj" fmla="val 2162"/>
            </a:avLst>
          </a:prstGeom>
          <a:solidFill>
            <a:srgbClr val="1E1E1F"/>
          </a:solidFill>
          <a:ln w="9525">
            <a:solidFill>
              <a:srgbClr val="35322A"/>
            </a:solidFill>
            <a:prstDash val="solid"/>
          </a:ln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386316" y="1920240"/>
            <a:ext cx="822960" cy="822960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1482" y="2105406"/>
            <a:ext cx="452628" cy="45262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89036" y="28803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HUB37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8289036" y="3172968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Plataforma &amp; Operacional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426196" y="37490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vendas, integrações e operacional de soluções.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SCHERON PIPOCA  ×  PANTERA BRASIL  ×  HUB37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5836" y="822960"/>
            <a:ext cx="1097280" cy="1097280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2724" y="1069848"/>
            <a:ext cx="603504" cy="6035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1031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Pré-lançamento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2011680" y="2743200"/>
            <a:ext cx="81655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lançamento inicial acontece exclusivamente no site desenvolvido pela HUB37 — antes de qualquer outro canal.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566160" y="3931920"/>
            <a:ext cx="5056632" cy="1371600"/>
          </a:xfrm>
          <a:prstGeom prst="roundRect">
            <a:avLst>
              <a:gd name="adj" fmla="val 5333"/>
            </a:avLst>
          </a:prstGeom>
          <a:solidFill>
            <a:srgbClr val="242425"/>
          </a:solidFill>
          <a:ln w="9525">
            <a:solidFill>
              <a:srgbClr val="3532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566160" y="3931920"/>
            <a:ext cx="505663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próprio  ·  Plataforma HUB37  ·  Canal único de estreia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SCHERON PIPOCA  ×  PANTERA BRASIL  ×  HUB37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Logística e despacho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08676" y="1463040"/>
            <a:ext cx="1371600" cy="1371600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7286" y="1771650"/>
            <a:ext cx="754380" cy="7543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01752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DIAS</a:t>
            </a:r>
            <a:endParaRPr lang="en-US" sz="6400" dirty="0"/>
          </a:p>
        </p:txBody>
      </p:sp>
      <p:sp>
        <p:nvSpPr>
          <p:cNvPr id="6" name="Text 3"/>
          <p:cNvSpPr/>
          <p:nvPr/>
        </p:nvSpPr>
        <p:spPr>
          <a:xfrm>
            <a:off x="0" y="39776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máximo para despacho do produto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SCHERON PIPOCA  ×  PANTERA BRASIL  ×  HUB37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Precificação e divisão de lucros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4937760" cy="4572000"/>
          </a:xfrm>
          <a:prstGeom prst="roundRect">
            <a:avLst>
              <a:gd name="adj" fmla="val 1600"/>
            </a:avLst>
          </a:prstGeom>
          <a:solidFill>
            <a:srgbClr val="1E1E1F"/>
          </a:solidFill>
          <a:ln w="9525">
            <a:solidFill>
              <a:srgbClr val="35322A"/>
            </a:solidFill>
            <a:prstDash val="solid"/>
          </a:ln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05840" y="1828800"/>
            <a:ext cx="822960" cy="822960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1006" y="2013966"/>
            <a:ext cx="452628" cy="4526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283464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Precificação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05840" y="3337560"/>
            <a:ext cx="4206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precificação do produto já foi definida — base fixa para todos os canais de venda (atacado, revenda e D2C).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05840" y="457200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exclusivo inicial dos produtos Pantera. Exceções serão discutidas em grupo, com os mesmos ganhos aplicados.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943600" y="1463040"/>
            <a:ext cx="5577840" cy="4572000"/>
          </a:xfrm>
          <a:prstGeom prst="roundRect">
            <a:avLst>
              <a:gd name="adj" fmla="val 1600"/>
            </a:avLst>
          </a:prstGeom>
          <a:solidFill>
            <a:srgbClr val="1E1E1F"/>
          </a:solidFill>
          <a:ln w="9525">
            <a:solidFill>
              <a:srgbClr val="35322A"/>
            </a:solidFill>
            <a:prstDash val="solid"/>
          </a:ln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217920" y="1691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de lucro — 3 partes iguais</a:t>
            </a:r>
            <a:endParaRPr lang="en-US" sz="14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400800" y="2148840"/>
          <a:ext cx="46634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SCHERON PIPOCA  ×  PANTERA BRASIL  ×  HUB37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5836" y="822960"/>
            <a:ext cx="1097280" cy="1097280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2724" y="1069848"/>
            <a:ext cx="603504" cy="6035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1031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Exclusividade de produtos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836676" y="288036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1E1E1F"/>
          </a:solidFill>
          <a:ln w="9525">
            <a:solidFill>
              <a:srgbClr val="3532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10996" y="288036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inicial exclusivo dos produtos da Pantera Brasil.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448556" y="288036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1E1E1F"/>
          </a:solidFill>
          <a:ln w="9525">
            <a:solidFill>
              <a:srgbClr val="3532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22876" y="288036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Exceções serão sempre discutidas e decididas em grupo.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060436" y="288036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1E1E1F"/>
          </a:solidFill>
          <a:ln w="9525">
            <a:solidFill>
              <a:srgbClr val="35322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34756" y="288036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Ganhos de novas exceções seguem a mesma divisão — 3 partes iguais.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SCHERON PIPOCA  ×  PANTERA BRASIL  ×  HUB37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Canais de venda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operação atende atacado, revendedoras e D2C — todos com a mesma distribuição de resultados.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99516" y="169164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1E1E1F"/>
          </a:solidFill>
          <a:ln w="9525">
            <a:solidFill>
              <a:srgbClr val="35322A"/>
            </a:solidFill>
            <a:prstDash val="solid"/>
          </a:ln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79676" y="2057400"/>
            <a:ext cx="822960" cy="822960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4842" y="2242566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2396" y="3108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Atacado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9556" y="35204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em grande volume para parceiros comerciais.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2836" y="169164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1E1E1F"/>
          </a:solidFill>
          <a:ln w="9525">
            <a:solidFill>
              <a:srgbClr val="35322A"/>
            </a:solidFill>
            <a:prstDash val="solid"/>
          </a:ln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82996" y="2057400"/>
            <a:ext cx="822960" cy="822960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162" y="2242566"/>
            <a:ext cx="452628" cy="4526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85716" y="3108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Revendedoras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722876" y="35204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de revenda com produtos da operação.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06156" y="169164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1E1E1F"/>
          </a:solidFill>
          <a:ln w="9525">
            <a:solidFill>
              <a:srgbClr val="35322A"/>
            </a:solidFill>
            <a:prstDash val="solid"/>
          </a:ln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86316" y="2057400"/>
            <a:ext cx="822960" cy="822960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1482" y="2242566"/>
            <a:ext cx="452628" cy="4526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89036" y="31089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D2C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26196" y="35204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 direta ao consumidor final pela plataforma.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99516" y="5074920"/>
            <a:ext cx="10789920" cy="640080"/>
          </a:xfrm>
          <a:prstGeom prst="roundRect">
            <a:avLst>
              <a:gd name="adj" fmla="val 11429"/>
            </a:avLst>
          </a:prstGeom>
          <a:solidFill>
            <a:srgbClr val="242425"/>
          </a:solidFill>
          <a:ln w="9525">
            <a:solidFill>
              <a:srgbClr val="35322A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99516" y="50749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distribuição de resultados em todos os canais.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SCHERON PIPOCA  ×  PANTERA BRASIL  ×  HUB37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Princípios do projeto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4206240" cy="4572000"/>
          </a:xfrm>
          <a:prstGeom prst="roundRect">
            <a:avLst>
              <a:gd name="adj" fmla="val 1739"/>
            </a:avLst>
          </a:prstGeom>
          <a:solidFill>
            <a:srgbClr val="242425"/>
          </a:solidFill>
          <a:ln w="9525">
            <a:solidFill>
              <a:srgbClr val="35322A"/>
            </a:solidFill>
            <a:prstDash val="solid"/>
          </a:ln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2148840" y="2011680"/>
            <a:ext cx="1188720" cy="1188720"/>
          </a:xfrm>
          <a:prstGeom prst="ellipse">
            <a:avLst/>
          </a:prstGeom>
          <a:solidFill>
            <a:srgbClr val="D4AF37"/>
          </a:solidFill>
          <a:ln/>
          <a:effectLst>
            <a:outerShdw sx="100000" sy="100000" kx="0" ky="0" algn="bl" rotWithShape="0" blurRad="177800" dist="25400" dir="5400000">
              <a:srgbClr val="D4AF37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6302" y="2279142"/>
            <a:ext cx="653796" cy="6537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4747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Ninguém é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descartável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05840" y="475488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pessoa e cada empresa sustenta uma parte essencial do projeto.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212080" y="1554480"/>
            <a:ext cx="6336792" cy="1005840"/>
          </a:xfrm>
          <a:prstGeom prst="roundRect">
            <a:avLst>
              <a:gd name="adj" fmla="val 5455"/>
            </a:avLst>
          </a:prstGeom>
          <a:solidFill>
            <a:srgbClr val="1E1E1F"/>
          </a:solidFill>
          <a:ln w="6350">
            <a:solidFill>
              <a:srgbClr val="35322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0" y="1554480"/>
            <a:ext cx="5788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Divisão de lucro sempre em 3 partes iguais entre as empresas.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212080" y="2697480"/>
            <a:ext cx="6336792" cy="1005840"/>
          </a:xfrm>
          <a:prstGeom prst="roundRect">
            <a:avLst>
              <a:gd name="adj" fmla="val 5455"/>
            </a:avLst>
          </a:prstGeom>
          <a:solidFill>
            <a:srgbClr val="1E1E1F"/>
          </a:solidFill>
          <a:ln w="6350">
            <a:solidFill>
              <a:srgbClr val="3532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2697480"/>
            <a:ext cx="5788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sobre exceções (novos fornecedores, novos produtos) são sempre discutidas em grupo.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212080" y="3840480"/>
            <a:ext cx="6336792" cy="1005840"/>
          </a:xfrm>
          <a:prstGeom prst="roundRect">
            <a:avLst>
              <a:gd name="adj" fmla="val 5455"/>
            </a:avLst>
          </a:prstGeom>
          <a:solidFill>
            <a:srgbClr val="1E1E1F"/>
          </a:solidFill>
          <a:ln w="6350">
            <a:solidFill>
              <a:srgbClr val="35322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0" y="3840480"/>
            <a:ext cx="5788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e espertise compartilhada entre Scheron Pipoca, Pantera Brasil e HUB37.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212080" y="4983480"/>
            <a:ext cx="6336792" cy="1005840"/>
          </a:xfrm>
          <a:prstGeom prst="roundRect">
            <a:avLst>
              <a:gd name="adj" fmla="val 5455"/>
            </a:avLst>
          </a:prstGeom>
          <a:solidFill>
            <a:srgbClr val="1E1E1F"/>
          </a:solidFill>
          <a:ln w="6350">
            <a:solidFill>
              <a:srgbClr val="3532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486400" y="4983480"/>
            <a:ext cx="5788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distribuição de resultados em qualquer canal de venda.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SCHERON PIPOCA  ×  PANTERA BRASIL  ×  HUB37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46888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Vamos construir juntos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32461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Scheron Pipoca  ·  Pantera Brasil  ·  HUB37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0" y="379476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9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marca. Uma produção. Uma solução de venda.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2026-08-11T21:38:37Z</dcterms:created>
  <dcterms:modified xsi:type="dcterms:W3CDTF">2026-08-11T21:38:37Z</dcterms:modified>
</cp:coreProperties>
</file>